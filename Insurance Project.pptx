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CCFF"/>
    <a:srgbClr val="3171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1985949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221627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2977754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2587CD-2713-4D6C-961C-7016631F2D0B}"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575991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2587CD-2713-4D6C-961C-7016631F2D0B}"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1365040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3208759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2204864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2660481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2587CD-2713-4D6C-961C-7016631F2D0B}"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376841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2587CD-2713-4D6C-961C-7016631F2D0B}"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3052795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1120606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67968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3330667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4124935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1270882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35058401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587CD-2713-4D6C-961C-7016631F2D0B}"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0CB59-831A-4073-AFDB-726F92177F61}" type="slidenum">
              <a:rPr lang="en-US" smtClean="0"/>
              <a:t>‹#›</a:t>
            </a:fld>
            <a:endParaRPr lang="en-US"/>
          </a:p>
        </p:txBody>
      </p:sp>
    </p:spTree>
    <p:extLst>
      <p:ext uri="{BB962C8B-B14F-4D97-AF65-F5344CB8AC3E}">
        <p14:creationId xmlns:p14="http://schemas.microsoft.com/office/powerpoint/2010/main" val="2708209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A2587CD-2713-4D6C-961C-7016631F2D0B}" type="datetimeFigureOut">
              <a:rPr lang="en-US" smtClean="0"/>
              <a:t>11/17/2025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F50CB59-831A-4073-AFDB-726F92177F61}" type="slidenum">
              <a:rPr lang="en-US" smtClean="0"/>
              <a:t>‹#›</a:t>
            </a:fld>
            <a:endParaRPr lang="en-US"/>
          </a:p>
        </p:txBody>
      </p:sp>
    </p:spTree>
    <p:extLst>
      <p:ext uri="{BB962C8B-B14F-4D97-AF65-F5344CB8AC3E}">
        <p14:creationId xmlns:p14="http://schemas.microsoft.com/office/powerpoint/2010/main" val="24615513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9" name="Rectangle 28">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1"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solidFill>
                <a:schemeClr val="tx1">
                  <a:alpha val="20000"/>
                </a:schemeClr>
              </a:solidFill>
            </a:endParaRPr>
          </a:p>
        </p:txBody>
      </p:sp>
      <p:sp>
        <p:nvSpPr>
          <p:cNvPr id="32" name="Freeform: Shape 3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685EB13-2FCA-10B7-D554-D23B67DAA5FA}"/>
              </a:ext>
            </a:extLst>
          </p:cNvPr>
          <p:cNvSpPr>
            <a:spLocks noGrp="1"/>
          </p:cNvSpPr>
          <p:nvPr>
            <p:ph type="ctrTitle"/>
          </p:nvPr>
        </p:nvSpPr>
        <p:spPr>
          <a:xfrm>
            <a:off x="653143" y="1645920"/>
            <a:ext cx="3522879" cy="4470821"/>
          </a:xfrm>
        </p:spPr>
        <p:txBody>
          <a:bodyPr vert="horz" lIns="91440" tIns="45720" rIns="91440" bIns="45720" rtlCol="0" anchor="t">
            <a:normAutofit/>
          </a:bodyPr>
          <a:lstStyle/>
          <a:p>
            <a:pPr algn="r"/>
            <a:r>
              <a:rPr lang="en-US" sz="4200" b="0" i="0" kern="1200">
                <a:solidFill>
                  <a:srgbClr val="FFFFFF"/>
                </a:solidFill>
                <a:latin typeface="+mj-lt"/>
                <a:ea typeface="+mj-ea"/>
                <a:cs typeface="+mj-cs"/>
              </a:rPr>
              <a:t>Insurance Data Analysis Project</a:t>
            </a:r>
          </a:p>
        </p:txBody>
      </p:sp>
      <p:sp>
        <p:nvSpPr>
          <p:cNvPr id="3" name="Subtitle 2">
            <a:extLst>
              <a:ext uri="{FF2B5EF4-FFF2-40B4-BE49-F238E27FC236}">
                <a16:creationId xmlns:a16="http://schemas.microsoft.com/office/drawing/2014/main" id="{3965304D-F711-86DB-0EF8-AE2CBF86902A}"/>
              </a:ext>
            </a:extLst>
          </p:cNvPr>
          <p:cNvSpPr>
            <a:spLocks noGrp="1"/>
          </p:cNvSpPr>
          <p:nvPr>
            <p:ph type="subTitle" idx="1"/>
          </p:nvPr>
        </p:nvSpPr>
        <p:spPr>
          <a:xfrm>
            <a:off x="5204109" y="1645920"/>
            <a:ext cx="5919503" cy="4470821"/>
          </a:xfrm>
        </p:spPr>
        <p:txBody>
          <a:bodyPr vert="horz" lIns="91440" tIns="45720" rIns="91440" bIns="45720" rtlCol="0">
            <a:normAutofit/>
          </a:bodyPr>
          <a:lstStyle/>
          <a:p>
            <a:pPr algn="ctr"/>
            <a:r>
              <a:rPr lang="en-US" dirty="0">
                <a:solidFill>
                  <a:schemeClr val="tx1"/>
                </a:solidFill>
              </a:rPr>
              <a:t> By</a:t>
            </a:r>
          </a:p>
          <a:p>
            <a:endParaRPr lang="en-US" dirty="0">
              <a:solidFill>
                <a:schemeClr val="tx1"/>
              </a:solidFill>
            </a:endParaRPr>
          </a:p>
          <a:p>
            <a:endParaRPr lang="en-US" dirty="0">
              <a:solidFill>
                <a:schemeClr val="tx1"/>
              </a:solidFill>
            </a:endParaRPr>
          </a:p>
          <a:p>
            <a:pPr algn="ctr"/>
            <a:r>
              <a:rPr lang="en-US" sz="2600" b="1" dirty="0">
                <a:solidFill>
                  <a:srgbClr val="C00000"/>
                </a:solidFill>
                <a:latin typeface="Amasis MT Pro Medium" panose="02040604050005020304" pitchFamily="18" charset="0"/>
              </a:rPr>
              <a:t>OLUSEYE OPEOLUWA</a:t>
            </a:r>
          </a:p>
          <a:p>
            <a:pPr algn="ctr"/>
            <a:r>
              <a:rPr lang="en-US" sz="1700" b="1" dirty="0">
                <a:solidFill>
                  <a:schemeClr val="tx1"/>
                </a:solidFill>
                <a:latin typeface="Modern No. 20" panose="02070704070505020303" pitchFamily="18" charset="0"/>
              </a:rPr>
              <a:t>Data Analyst</a:t>
            </a:r>
          </a:p>
          <a:p>
            <a:pPr>
              <a:buFont typeface="Wingdings 3" charset="2"/>
              <a:buChar char=""/>
            </a:pPr>
            <a:endParaRPr lang="en-US" dirty="0">
              <a:solidFill>
                <a:schemeClr val="tx1"/>
              </a:solidFill>
            </a:endParaRPr>
          </a:p>
          <a:p>
            <a:pPr>
              <a:buFont typeface="Wingdings 3" charset="2"/>
              <a:buChar char=""/>
            </a:pPr>
            <a:endParaRPr lang="en-US" dirty="0">
              <a:solidFill>
                <a:schemeClr val="tx1"/>
              </a:solidFill>
            </a:endParaRPr>
          </a:p>
          <a:p>
            <a:pPr>
              <a:buFont typeface="Wingdings 3" charset="2"/>
              <a:buChar char=""/>
            </a:pPr>
            <a:endParaRPr lang="en-US" dirty="0">
              <a:solidFill>
                <a:schemeClr val="tx1"/>
              </a:solidFill>
            </a:endParaRPr>
          </a:p>
          <a:p>
            <a:pPr>
              <a:buFont typeface="Wingdings 3" charset="2"/>
              <a:buChar char=""/>
            </a:pPr>
            <a:endParaRPr lang="en-US" dirty="0">
              <a:solidFill>
                <a:schemeClr val="tx1"/>
              </a:solidFill>
            </a:endParaRPr>
          </a:p>
          <a:p>
            <a:pPr>
              <a:buFont typeface="Wingdings 3" charset="2"/>
              <a:buChar char=""/>
            </a:pPr>
            <a:endParaRPr lang="en-US" dirty="0">
              <a:solidFill>
                <a:schemeClr val="tx1"/>
              </a:solidFill>
            </a:endParaRPr>
          </a:p>
          <a:p>
            <a:pPr>
              <a:buFont typeface="Wingdings 3" charset="2"/>
              <a:buChar char=""/>
            </a:pPr>
            <a:endParaRPr lang="en-US" dirty="0">
              <a:solidFill>
                <a:schemeClr val="tx1"/>
              </a:solidFill>
            </a:endParaRPr>
          </a:p>
          <a:p>
            <a:pPr algn="ctr">
              <a:buFont typeface="Wingdings 3" charset="2"/>
              <a:buChar char=""/>
            </a:pPr>
            <a:endParaRPr lang="en-US" b="1" dirty="0">
              <a:solidFill>
                <a:schemeClr val="tx1"/>
              </a:solidFill>
            </a:endParaRPr>
          </a:p>
        </p:txBody>
      </p:sp>
    </p:spTree>
    <p:extLst>
      <p:ext uri="{BB962C8B-B14F-4D97-AF65-F5344CB8AC3E}">
        <p14:creationId xmlns:p14="http://schemas.microsoft.com/office/powerpoint/2010/main" val="403101018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3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09D92-EF03-68E7-4347-E33650048AE3}"/>
              </a:ext>
            </a:extLst>
          </p:cNvPr>
          <p:cNvSpPr>
            <a:spLocks noGrp="1"/>
          </p:cNvSpPr>
          <p:nvPr>
            <p:ph type="title"/>
          </p:nvPr>
        </p:nvSpPr>
        <p:spPr>
          <a:xfrm>
            <a:off x="838200" y="0"/>
            <a:ext cx="10515600" cy="1189243"/>
          </a:xfrm>
        </p:spPr>
        <p:txBody>
          <a:bodyPr>
            <a:normAutofit/>
          </a:bodyPr>
          <a:lstStyle/>
          <a:p>
            <a:pPr algn="ctr"/>
            <a:r>
              <a:rPr lang="en-US" sz="3200" dirty="0">
                <a:solidFill>
                  <a:srgbClr val="C00000"/>
                </a:solidFill>
              </a:rPr>
              <a:t>Insurance Data Analysis Project</a:t>
            </a:r>
          </a:p>
        </p:txBody>
      </p:sp>
      <p:sp>
        <p:nvSpPr>
          <p:cNvPr id="3" name="Content Placeholder 2">
            <a:extLst>
              <a:ext uri="{FF2B5EF4-FFF2-40B4-BE49-F238E27FC236}">
                <a16:creationId xmlns:a16="http://schemas.microsoft.com/office/drawing/2014/main" id="{37FC657B-1987-0D5F-D51E-1C892C6EF79E}"/>
              </a:ext>
            </a:extLst>
          </p:cNvPr>
          <p:cNvSpPr>
            <a:spLocks noGrp="1"/>
          </p:cNvSpPr>
          <p:nvPr>
            <p:ph idx="1"/>
          </p:nvPr>
        </p:nvSpPr>
        <p:spPr>
          <a:xfrm>
            <a:off x="560439" y="855406"/>
            <a:ext cx="11282515" cy="5810865"/>
          </a:xfrm>
        </p:spPr>
        <p:txBody>
          <a:bodyPr>
            <a:normAutofit fontScale="55000" lnSpcReduction="20000"/>
          </a:bodyPr>
          <a:lstStyle/>
          <a:p>
            <a:pPr algn="just"/>
            <a:r>
              <a:rPr lang="en-US" b="1" dirty="0">
                <a:solidFill>
                  <a:schemeClr val="bg1"/>
                </a:solidFill>
              </a:rPr>
              <a:t>Introduction to Insurance and Project Overview</a:t>
            </a:r>
          </a:p>
          <a:p>
            <a:pPr algn="just"/>
            <a:r>
              <a:rPr lang="en-US" dirty="0">
                <a:solidFill>
                  <a:schemeClr val="bg1"/>
                </a:solidFill>
              </a:rPr>
              <a:t> What is Insurance? </a:t>
            </a:r>
          </a:p>
          <a:p>
            <a:pPr marL="0" indent="0" algn="just">
              <a:buNone/>
            </a:pPr>
            <a:r>
              <a:rPr lang="en-US" dirty="0">
                <a:solidFill>
                  <a:schemeClr val="bg1"/>
                </a:solidFill>
              </a:rPr>
              <a:t>Insurance is a financial product provided by insurance companies to safeguard individuals and entities against potential financial losses. These losses can arise from various unforeseen events such as accidents, natural disasters, theft, or health issues. In exchange for a premium paid by the policyholder, the insurance company commits to covering specific types of risks, thereby providing financial security and peace of mind. Project Overview </a:t>
            </a:r>
          </a:p>
          <a:p>
            <a:pPr marL="0" indent="0" algn="just">
              <a:buNone/>
            </a:pPr>
            <a:r>
              <a:rPr lang="en-US" dirty="0">
                <a:solidFill>
                  <a:schemeClr val="bg1"/>
                </a:solidFill>
              </a:rPr>
              <a:t>This is a company specializing in offering a variety of insurance products to its customers. The company's portfolio includes auto insurance, which covers losses or damages related to vehicles. The provided dataset contains anonymized information about the policyholders, their vehicles, and their claim histories.</a:t>
            </a:r>
          </a:p>
          <a:p>
            <a:pPr marL="0" indent="0" algn="just">
              <a:buNone/>
            </a:pPr>
            <a:r>
              <a:rPr lang="en-US" dirty="0">
                <a:solidFill>
                  <a:schemeClr val="bg1"/>
                </a:solidFill>
              </a:rPr>
              <a:t> This project analyzes this dataset to uncover insights that can help the company improve its services, optimize premiums, and reduce claim costs. </a:t>
            </a:r>
          </a:p>
          <a:p>
            <a:pPr marL="0" indent="0" algn="just">
              <a:buNone/>
            </a:pPr>
            <a:r>
              <a:rPr lang="en-US" dirty="0">
                <a:solidFill>
                  <a:schemeClr val="bg1"/>
                </a:solidFill>
              </a:rPr>
              <a:t>The company aims to enhance its auto insurance division by leveraging data analysis to: </a:t>
            </a:r>
          </a:p>
          <a:p>
            <a:pPr marL="514350" indent="-514350" algn="just">
              <a:buAutoNum type="arabicPeriod"/>
            </a:pPr>
            <a:r>
              <a:rPr lang="en-US" dirty="0">
                <a:solidFill>
                  <a:schemeClr val="bg1"/>
                </a:solidFill>
              </a:rPr>
              <a:t>Identify patterns in claim frequencies and amounts. </a:t>
            </a:r>
          </a:p>
          <a:p>
            <a:pPr marL="514350" indent="-514350" algn="just">
              <a:buAutoNum type="arabicPeriod"/>
            </a:pPr>
            <a:r>
              <a:rPr lang="en-US" dirty="0">
                <a:solidFill>
                  <a:schemeClr val="bg1"/>
                </a:solidFill>
              </a:rPr>
              <a:t>Understand the demographics and characteristics of policyholders. Develop targeted marketing strategies to attract and retain customers. </a:t>
            </a:r>
          </a:p>
          <a:p>
            <a:pPr marL="0" indent="0">
              <a:buNone/>
            </a:pPr>
            <a:r>
              <a:rPr lang="en-US" sz="2900" b="1" dirty="0">
                <a:solidFill>
                  <a:schemeClr val="bg1"/>
                </a:solidFill>
              </a:rPr>
              <a:t>Project Brief </a:t>
            </a:r>
          </a:p>
          <a:p>
            <a:pPr marL="0" indent="0" algn="just">
              <a:buNone/>
            </a:pPr>
            <a:r>
              <a:rPr lang="en-US" dirty="0">
                <a:solidFill>
                  <a:schemeClr val="bg1"/>
                </a:solidFill>
              </a:rPr>
              <a:t>You are tasked with analyzing the provided dataset to help this Insurance Company achieve the above objectives. Your analysis should be thorough and provide actionable insights. Use any data analysis tool of your choice (e.g., Python, Excel, SQL, Power BI) to conduct this analysis. The project should be completed within one week. Key Questions to Answer </a:t>
            </a:r>
          </a:p>
          <a:p>
            <a:pPr marL="514350" indent="-514350" algn="just">
              <a:buAutoNum type="arabicPeriod"/>
            </a:pPr>
            <a:r>
              <a:rPr lang="en-US" dirty="0">
                <a:solidFill>
                  <a:schemeClr val="bg1"/>
                </a:solidFill>
              </a:rPr>
              <a:t>Claim Frequency and Amount Analysis o What are the average claim frequencies and amounts for different demographic groups (e.g., age, gender, marital status)? o Are there any specific vehicle characteristics (e.g., make, model, year) that correlate with higher claim frequencies or amounts? </a:t>
            </a:r>
          </a:p>
          <a:p>
            <a:pPr marL="514350" indent="-514350" algn="just">
              <a:buAutoNum type="arabicPeriod"/>
            </a:pPr>
            <a:r>
              <a:rPr lang="en-US" dirty="0">
                <a:solidFill>
                  <a:schemeClr val="bg1"/>
                </a:solidFill>
              </a:rPr>
              <a:t> Risk Assessment o Which factors (e.g., household income, education level, coverage zone) are most indicative of high-risk policyholders? o Can we identify any common characteristics among policyholders who make frequent claims? </a:t>
            </a:r>
          </a:p>
          <a:p>
            <a:pPr marL="514350" indent="-514350" algn="just">
              <a:buAutoNum type="arabicPeriod"/>
            </a:pPr>
            <a:r>
              <a:rPr lang="en-US" dirty="0">
                <a:solidFill>
                  <a:schemeClr val="bg1"/>
                </a:solidFill>
              </a:rPr>
              <a:t>Customer Segmentation and Marketing o What are the key characteristics of policyholders with low claim frequencies and high household incomes? o How can we segment the customer base to identify high-value customers for targeted marketing campaigns? </a:t>
            </a:r>
          </a:p>
          <a:p>
            <a:pPr marL="514350" indent="-514350" algn="just">
              <a:buAutoNum type="arabicPeriod"/>
            </a:pPr>
            <a:r>
              <a:rPr lang="en-US" dirty="0">
                <a:solidFill>
                  <a:schemeClr val="bg1"/>
                </a:solidFill>
              </a:rPr>
              <a:t>Demographic Analysis o How does the distribution of policyholders vary across different demographic factors (age, gender, marital status)? o Are there any noticeable trends in car usage and ownership among different demographic groups? </a:t>
            </a:r>
          </a:p>
          <a:p>
            <a:pPr marL="514350" indent="-514350" algn="just">
              <a:buAutoNum type="arabicPeriod"/>
            </a:pPr>
            <a:r>
              <a:rPr lang="en-US" dirty="0">
                <a:solidFill>
                  <a:schemeClr val="bg1"/>
                </a:solidFill>
              </a:rPr>
              <a:t>Geographical Analysis o How do claim frequencies and amounts vary across different coverage zones? o Are there any regional trends or patterns that should be taken into consideration for marketing or risk assessment? </a:t>
            </a:r>
          </a:p>
          <a:p>
            <a:pPr marL="514350" indent="-514350" algn="just">
              <a:buAutoNum type="arabicPeriod"/>
            </a:pPr>
            <a:r>
              <a:rPr lang="en-US" dirty="0">
                <a:solidFill>
                  <a:schemeClr val="bg1"/>
                </a:solidFill>
              </a:rPr>
              <a:t>Customer Behavior Insights o How does the presence of children driving affect the frequency and number of claims?</a:t>
            </a:r>
          </a:p>
        </p:txBody>
      </p:sp>
    </p:spTree>
    <p:extLst>
      <p:ext uri="{BB962C8B-B14F-4D97-AF65-F5344CB8AC3E}">
        <p14:creationId xmlns:p14="http://schemas.microsoft.com/office/powerpoint/2010/main" val="1033936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F38DCBA-F010-71CE-3C6C-04F954733026}"/>
              </a:ext>
            </a:extLst>
          </p:cNvPr>
          <p:cNvSpPr>
            <a:spLocks noGrp="1"/>
          </p:cNvSpPr>
          <p:nvPr>
            <p:ph type="title"/>
          </p:nvPr>
        </p:nvSpPr>
        <p:spPr>
          <a:xfrm>
            <a:off x="838200" y="365126"/>
            <a:ext cx="10515600" cy="688760"/>
          </a:xfrm>
        </p:spPr>
        <p:txBody>
          <a:bodyPr>
            <a:normAutofit/>
          </a:bodyPr>
          <a:lstStyle/>
          <a:p>
            <a:pPr algn="ctr"/>
            <a:r>
              <a:rPr lang="en-US" sz="3200" b="1" dirty="0">
                <a:solidFill>
                  <a:schemeClr val="accent1"/>
                </a:solidFill>
              </a:rPr>
              <a:t>Claim Frequency &amp; Amount Analysis</a:t>
            </a:r>
          </a:p>
        </p:txBody>
      </p:sp>
      <p:pic>
        <p:nvPicPr>
          <p:cNvPr id="18" name="Content Placeholder 17">
            <a:extLst>
              <a:ext uri="{FF2B5EF4-FFF2-40B4-BE49-F238E27FC236}">
                <a16:creationId xmlns:a16="http://schemas.microsoft.com/office/drawing/2014/main" id="{185E4C3B-3F7F-8217-9AC7-534E3A7F674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177871"/>
            <a:ext cx="10515600" cy="5315004"/>
          </a:xfrm>
        </p:spPr>
      </p:pic>
    </p:spTree>
    <p:extLst>
      <p:ext uri="{BB962C8B-B14F-4D97-AF65-F5344CB8AC3E}">
        <p14:creationId xmlns:p14="http://schemas.microsoft.com/office/powerpoint/2010/main" val="666120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17FA-20F8-1C9E-66ED-BC1EECE991B1}"/>
              </a:ext>
            </a:extLst>
          </p:cNvPr>
          <p:cNvSpPr>
            <a:spLocks noGrp="1"/>
          </p:cNvSpPr>
          <p:nvPr>
            <p:ph type="title"/>
          </p:nvPr>
        </p:nvSpPr>
        <p:spPr>
          <a:xfrm>
            <a:off x="838200" y="365126"/>
            <a:ext cx="10515600" cy="688760"/>
          </a:xfrm>
        </p:spPr>
        <p:txBody>
          <a:bodyPr>
            <a:normAutofit/>
          </a:bodyPr>
          <a:lstStyle/>
          <a:p>
            <a:r>
              <a:rPr lang="en-US" sz="2800" dirty="0">
                <a:solidFill>
                  <a:srgbClr val="C00000"/>
                </a:solidFill>
                <a:latin typeface="Comic Sans MS" panose="030F0702030302020204" pitchFamily="66" charset="0"/>
              </a:rPr>
              <a:t> Risk Assessment</a:t>
            </a:r>
          </a:p>
        </p:txBody>
      </p:sp>
      <p:pic>
        <p:nvPicPr>
          <p:cNvPr id="5" name="Content Placeholder 4">
            <a:extLst>
              <a:ext uri="{FF2B5EF4-FFF2-40B4-BE49-F238E27FC236}">
                <a16:creationId xmlns:a16="http://schemas.microsoft.com/office/drawing/2014/main" id="{BC30A662-3854-5105-9B90-1061F4465D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93370"/>
            <a:ext cx="10515599" cy="5408908"/>
          </a:xfrm>
        </p:spPr>
      </p:pic>
    </p:spTree>
    <p:extLst>
      <p:ext uri="{BB962C8B-B14F-4D97-AF65-F5344CB8AC3E}">
        <p14:creationId xmlns:p14="http://schemas.microsoft.com/office/powerpoint/2010/main" val="179028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51A3-DEBC-3F2B-8AC4-2E661AE2EB99}"/>
              </a:ext>
            </a:extLst>
          </p:cNvPr>
          <p:cNvSpPr>
            <a:spLocks noGrp="1"/>
          </p:cNvSpPr>
          <p:nvPr>
            <p:ph type="title"/>
          </p:nvPr>
        </p:nvSpPr>
        <p:spPr>
          <a:xfrm>
            <a:off x="838200" y="365126"/>
            <a:ext cx="10515600" cy="580272"/>
          </a:xfrm>
        </p:spPr>
        <p:txBody>
          <a:bodyPr>
            <a:normAutofit/>
          </a:bodyPr>
          <a:lstStyle/>
          <a:p>
            <a:r>
              <a:rPr lang="en-US" sz="2800" b="1" dirty="0">
                <a:solidFill>
                  <a:schemeClr val="accent1"/>
                </a:solidFill>
              </a:rPr>
              <a:t>Demographic Analysis</a:t>
            </a:r>
          </a:p>
        </p:txBody>
      </p:sp>
      <p:pic>
        <p:nvPicPr>
          <p:cNvPr id="5" name="Content Placeholder 4">
            <a:extLst>
              <a:ext uri="{FF2B5EF4-FFF2-40B4-BE49-F238E27FC236}">
                <a16:creationId xmlns:a16="http://schemas.microsoft.com/office/drawing/2014/main" id="{690D2ABA-3546-CB27-4DA6-AA35EE188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00380"/>
            <a:ext cx="10515599" cy="5532895"/>
          </a:xfrm>
        </p:spPr>
      </p:pic>
    </p:spTree>
    <p:extLst>
      <p:ext uri="{BB962C8B-B14F-4D97-AF65-F5344CB8AC3E}">
        <p14:creationId xmlns:p14="http://schemas.microsoft.com/office/powerpoint/2010/main" val="2186853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39173-CCBA-0B4C-963C-81F2E59A16CB}"/>
              </a:ext>
            </a:extLst>
          </p:cNvPr>
          <p:cNvSpPr>
            <a:spLocks noGrp="1"/>
          </p:cNvSpPr>
          <p:nvPr>
            <p:ph type="title"/>
          </p:nvPr>
        </p:nvSpPr>
        <p:spPr>
          <a:xfrm>
            <a:off x="838200" y="365125"/>
            <a:ext cx="10515600" cy="673261"/>
          </a:xfrm>
        </p:spPr>
        <p:txBody>
          <a:bodyPr>
            <a:normAutofit/>
          </a:bodyPr>
          <a:lstStyle/>
          <a:p>
            <a:r>
              <a:rPr lang="en-US" sz="2800" b="1" dirty="0">
                <a:solidFill>
                  <a:schemeClr val="accent1"/>
                </a:solidFill>
              </a:rPr>
              <a:t>Geographical Analysis</a:t>
            </a:r>
          </a:p>
        </p:txBody>
      </p:sp>
      <p:pic>
        <p:nvPicPr>
          <p:cNvPr id="5" name="Content Placeholder 4">
            <a:extLst>
              <a:ext uri="{FF2B5EF4-FFF2-40B4-BE49-F238E27FC236}">
                <a16:creationId xmlns:a16="http://schemas.microsoft.com/office/drawing/2014/main" id="{D66B45C0-40EF-9212-5FC5-9528110B3D8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1177871"/>
            <a:ext cx="10515600" cy="5470902"/>
          </a:xfrm>
        </p:spPr>
      </p:pic>
    </p:spTree>
    <p:extLst>
      <p:ext uri="{BB962C8B-B14F-4D97-AF65-F5344CB8AC3E}">
        <p14:creationId xmlns:p14="http://schemas.microsoft.com/office/powerpoint/2010/main" val="3680348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18FA6-0CBB-D965-97C4-47FB50134727}"/>
              </a:ext>
            </a:extLst>
          </p:cNvPr>
          <p:cNvSpPr>
            <a:spLocks noGrp="1"/>
          </p:cNvSpPr>
          <p:nvPr>
            <p:ph type="title"/>
          </p:nvPr>
        </p:nvSpPr>
        <p:spPr>
          <a:xfrm>
            <a:off x="838200" y="365125"/>
            <a:ext cx="10515600" cy="549275"/>
          </a:xfrm>
        </p:spPr>
        <p:txBody>
          <a:bodyPr>
            <a:normAutofit/>
          </a:bodyPr>
          <a:lstStyle/>
          <a:p>
            <a:r>
              <a:rPr lang="en-US" sz="2800" b="1" dirty="0">
                <a:solidFill>
                  <a:schemeClr val="accent1"/>
                </a:solidFill>
              </a:rPr>
              <a:t>Customer  Behaviors </a:t>
            </a:r>
          </a:p>
        </p:txBody>
      </p:sp>
      <p:pic>
        <p:nvPicPr>
          <p:cNvPr id="5" name="Content Placeholder 4">
            <a:extLst>
              <a:ext uri="{FF2B5EF4-FFF2-40B4-BE49-F238E27FC236}">
                <a16:creationId xmlns:a16="http://schemas.microsoft.com/office/drawing/2014/main" id="{5E674103-14FD-E4EE-5734-9A0AA89F78B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022888"/>
            <a:ext cx="10515600" cy="5656881"/>
          </a:xfrm>
        </p:spPr>
      </p:pic>
    </p:spTree>
    <p:extLst>
      <p:ext uri="{BB962C8B-B14F-4D97-AF65-F5344CB8AC3E}">
        <p14:creationId xmlns:p14="http://schemas.microsoft.com/office/powerpoint/2010/main" val="431611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05851-F32A-A2D6-3565-87849EBD0CD0}"/>
              </a:ext>
            </a:extLst>
          </p:cNvPr>
          <p:cNvSpPr>
            <a:spLocks noGrp="1"/>
          </p:cNvSpPr>
          <p:nvPr>
            <p:ph type="title"/>
          </p:nvPr>
        </p:nvSpPr>
        <p:spPr>
          <a:xfrm>
            <a:off x="838200" y="59492"/>
            <a:ext cx="10515600" cy="611268"/>
          </a:xfrm>
        </p:spPr>
        <p:txBody>
          <a:bodyPr>
            <a:normAutofit/>
          </a:bodyPr>
          <a:lstStyle/>
          <a:p>
            <a:pPr algn="ctr"/>
            <a:r>
              <a:rPr lang="en-US" sz="3200" dirty="0">
                <a:solidFill>
                  <a:srgbClr val="C00000"/>
                </a:solidFill>
              </a:rPr>
              <a:t>Insights                               Recommendations</a:t>
            </a:r>
          </a:p>
        </p:txBody>
      </p:sp>
      <p:sp>
        <p:nvSpPr>
          <p:cNvPr id="3" name="Content Placeholder 2">
            <a:extLst>
              <a:ext uri="{FF2B5EF4-FFF2-40B4-BE49-F238E27FC236}">
                <a16:creationId xmlns:a16="http://schemas.microsoft.com/office/drawing/2014/main" id="{A5D019B1-19F6-10FA-7191-2A4A28576E63}"/>
              </a:ext>
            </a:extLst>
          </p:cNvPr>
          <p:cNvSpPr>
            <a:spLocks noGrp="1"/>
          </p:cNvSpPr>
          <p:nvPr>
            <p:ph sz="half" idx="1"/>
          </p:nvPr>
        </p:nvSpPr>
        <p:spPr>
          <a:xfrm>
            <a:off x="325464" y="670760"/>
            <a:ext cx="5694336" cy="6127748"/>
          </a:xfrm>
        </p:spPr>
        <p:txBody>
          <a:bodyPr>
            <a:normAutofit fontScale="92500" lnSpcReduction="10000"/>
          </a:bodyPr>
          <a:lstStyle/>
          <a:p>
            <a:pPr marL="0" indent="0" algn="just">
              <a:buNone/>
            </a:pPr>
            <a:r>
              <a:rPr lang="en-US" sz="1700" b="1" kern="100" dirty="0">
                <a:solidFill>
                  <a:schemeClr val="accent1"/>
                </a:solidFill>
                <a:latin typeface="Aptos" panose="020B0004020202020204" pitchFamily="34" charset="0"/>
                <a:ea typeface="Aptos" panose="020B0004020202020204" pitchFamily="34" charset="0"/>
                <a:cs typeface="Times New Roman" panose="02020603050405020304" pitchFamily="18" charset="0"/>
              </a:rPr>
              <a:t>Claim Frequency and Claim Amount Analysis</a:t>
            </a:r>
          </a:p>
          <a:p>
            <a:pPr marL="0" indent="0" algn="just">
              <a:buNone/>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common Characteristics among policy holders who make higher frequency claims are: They are mostly bachelor degree holders, they are part of high earners in household incomes, they mostly live in the Suburban areas and Judging by the Maker of car they use, Its Ford and Chevrolet. These are the few characteristics pointed out according to the Columns used.</a:t>
            </a:r>
          </a:p>
          <a:p>
            <a:pPr marL="0" indent="0" algn="just">
              <a:buNone/>
            </a:pPr>
            <a:endParaRPr lang="en-US" sz="14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indent="0" algn="just">
              <a:buNone/>
            </a:pPr>
            <a:r>
              <a:rPr lang="en-US" sz="1700" b="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 Risk Assessment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Average Claim</a:t>
            </a:r>
            <a:r>
              <a:rPr lang="en-US" sz="15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a:t>
            </a: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Freq</a:t>
            </a:r>
            <a:r>
              <a:rPr lang="en-US" sz="15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uency </a:t>
            </a: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and Total number of Customers are negatively correlated with each other. it means that as the total number of customers increases, the average frequency of the observed event (like claims) decreases.</a:t>
            </a:r>
          </a:p>
          <a:p>
            <a:pPr marL="457200" marR="0" algn="just">
              <a:lnSpc>
                <a:spcPct val="107000"/>
              </a:lnSpc>
              <a:spcBef>
                <a:spcPts val="0"/>
              </a:spcBef>
              <a:spcAft>
                <a:spcPts val="800"/>
              </a:spcAf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As the total number of policyholders (customers) goes up, the average frequency of claims per customer tends to go down. This might mean that as the company acquires more customers, they may be attracting policyholders with lower claim frequencies on average, possibly indicating lower-risk customers joining.</a:t>
            </a:r>
          </a:p>
          <a:p>
            <a:pPr marL="457200" marR="0" algn="just">
              <a:lnSpc>
                <a:spcPct val="107000"/>
              </a:lnSpc>
              <a:spcBef>
                <a:spcPts val="0"/>
              </a:spcBef>
              <a:spcAft>
                <a:spcPts val="800"/>
              </a:spcAf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 negative correlation here suggests that with a growing customer base, the average claim frequency per individual is generally reducing. This insight can be valuable for marketing, customer acquisition, and risk management strategies.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people who make more frequent claims are Bachelors, live mostly in the Rural Areas, and drive more of Private cars.</a:t>
            </a:r>
          </a:p>
          <a:p>
            <a:pPr marL="0" indent="0" algn="just">
              <a:buNone/>
            </a:pP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endParaRPr lang="en-US" dirty="0">
              <a:solidFill>
                <a:schemeClr val="bg1"/>
              </a:solidFill>
            </a:endParaRPr>
          </a:p>
        </p:txBody>
      </p:sp>
      <p:sp>
        <p:nvSpPr>
          <p:cNvPr id="4" name="Content Placeholder 3">
            <a:extLst>
              <a:ext uri="{FF2B5EF4-FFF2-40B4-BE49-F238E27FC236}">
                <a16:creationId xmlns:a16="http://schemas.microsoft.com/office/drawing/2014/main" id="{810AACC7-A896-DD64-A2EE-2F13BD7B749F}"/>
              </a:ext>
            </a:extLst>
          </p:cNvPr>
          <p:cNvSpPr>
            <a:spLocks noGrp="1"/>
          </p:cNvSpPr>
          <p:nvPr>
            <p:ph sz="half" idx="2"/>
          </p:nvPr>
        </p:nvSpPr>
        <p:spPr>
          <a:xfrm>
            <a:off x="6172200" y="670760"/>
            <a:ext cx="5498024" cy="5822114"/>
          </a:xfrm>
        </p:spPr>
        <p:txBody>
          <a:bodyPr>
            <a:normAutofit fontScale="92500" lnSpcReduction="10000"/>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Adjust premiums based on high-risk demographics or vehicle types, incentivizing safer options or providing discounts to low-risk groups.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Offer discounts for low-risk vehicles (like newer models with safety features) and surcharges on high-risk vehicles.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14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Since acquiring more customers appears to reduce average claim frequency, the company could expand marketing efforts aimed at attracting low-risk segments.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Having identify the lower claim frequencies, target them with customized offerings or incentives.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Use identified risk factors to refine underwriting criteria, applying stricter terms for high-risk profiles.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Offer tailored plans that include higher premiums or deductibles for identified high-risk groups.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dirty="0">
              <a:solidFill>
                <a:schemeClr val="bg1"/>
              </a:solidFill>
            </a:endParaRPr>
          </a:p>
        </p:txBody>
      </p:sp>
      <p:sp>
        <p:nvSpPr>
          <p:cNvPr id="5" name="Rectangle 4">
            <a:extLst>
              <a:ext uri="{FF2B5EF4-FFF2-40B4-BE49-F238E27FC236}">
                <a16:creationId xmlns:a16="http://schemas.microsoft.com/office/drawing/2014/main" id="{0B03421A-F061-989F-A2AB-311F3F5DAD1A}"/>
              </a:ext>
            </a:extLst>
          </p:cNvPr>
          <p:cNvSpPr/>
          <p:nvPr/>
        </p:nvSpPr>
        <p:spPr>
          <a:xfrm>
            <a:off x="6066294" y="1"/>
            <a:ext cx="1524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C87E25A-B3D8-5BCC-589E-8335ADE9BA4F}"/>
              </a:ext>
            </a:extLst>
          </p:cNvPr>
          <p:cNvCxnSpPr/>
          <p:nvPr/>
        </p:nvCxnSpPr>
        <p:spPr>
          <a:xfrm>
            <a:off x="325464" y="639764"/>
            <a:ext cx="1134476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3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CA8535-9DC2-F92F-B9CC-B43330317FD4}"/>
              </a:ext>
            </a:extLst>
          </p:cNvPr>
          <p:cNvSpPr>
            <a:spLocks noGrp="1"/>
          </p:cNvSpPr>
          <p:nvPr>
            <p:ph type="title"/>
          </p:nvPr>
        </p:nvSpPr>
        <p:spPr>
          <a:xfrm>
            <a:off x="762000" y="162759"/>
            <a:ext cx="10515600" cy="518278"/>
          </a:xfrm>
        </p:spPr>
        <p:txBody>
          <a:bodyPr>
            <a:noAutofit/>
          </a:bodyPr>
          <a:lstStyle/>
          <a:p>
            <a:pPr algn="ctr"/>
            <a:r>
              <a:rPr lang="en-US" sz="3200" dirty="0">
                <a:solidFill>
                  <a:srgbClr val="C00000"/>
                </a:solidFill>
              </a:rPr>
              <a:t>Insights                               Recommendations</a:t>
            </a:r>
          </a:p>
        </p:txBody>
      </p:sp>
      <p:sp>
        <p:nvSpPr>
          <p:cNvPr id="8" name="Content Placeholder 7">
            <a:extLst>
              <a:ext uri="{FF2B5EF4-FFF2-40B4-BE49-F238E27FC236}">
                <a16:creationId xmlns:a16="http://schemas.microsoft.com/office/drawing/2014/main" id="{A80306AE-AD50-6042-D561-FBF9D806680B}"/>
              </a:ext>
            </a:extLst>
          </p:cNvPr>
          <p:cNvSpPr>
            <a:spLocks noGrp="1"/>
          </p:cNvSpPr>
          <p:nvPr>
            <p:ph sz="half" idx="1"/>
          </p:nvPr>
        </p:nvSpPr>
        <p:spPr>
          <a:xfrm>
            <a:off x="838200" y="836908"/>
            <a:ext cx="5181600" cy="5858333"/>
          </a:xfrm>
        </p:spPr>
        <p:txBody>
          <a:bodyPr>
            <a:normAutofit/>
          </a:bodyPr>
          <a:lstStyle/>
          <a:p>
            <a:pPr marL="0" marR="0" lvl="0" indent="0">
              <a:lnSpc>
                <a:spcPct val="107000"/>
              </a:lnSpc>
              <a:spcBef>
                <a:spcPts val="0"/>
              </a:spcBef>
              <a:spcAft>
                <a:spcPts val="800"/>
              </a:spcAft>
              <a:buSzPts val="1000"/>
              <a:buNone/>
              <a:tabLst>
                <a:tab pos="457200" algn="l"/>
              </a:tabLst>
            </a:pPr>
            <a:r>
              <a:rPr lang="en-US" sz="1500" b="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Customer Segmentation</a:t>
            </a:r>
          </a:p>
          <a:p>
            <a:pPr>
              <a:lnSpc>
                <a:spcPct val="107000"/>
              </a:lnSpc>
              <a:spcBef>
                <a:spcPts val="0"/>
              </a:spcBef>
              <a:spcAft>
                <a:spcPts val="800"/>
              </a:spcAft>
              <a:buSzPts val="1000"/>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policyholders with high household incomes and low claim frequencies might be valuable for retention and targeted offerings.</a:t>
            </a:r>
          </a:p>
          <a:p>
            <a:pPr>
              <a:lnSpc>
                <a:spcPct val="107000"/>
              </a:lnSpc>
              <a:spcBef>
                <a:spcPts val="0"/>
              </a:spcBef>
              <a:spcAft>
                <a:spcPts val="800"/>
              </a:spcAft>
              <a:buSzPts val="1000"/>
              <a:tabLst>
                <a:tab pos="457200" algn="l"/>
              </a:tabLst>
            </a:pPr>
            <a:r>
              <a:rPr lang="en-US" sz="1500" kern="0" dirty="0">
                <a:solidFill>
                  <a:schemeClr val="bg1"/>
                </a:solidFill>
                <a:effectLst/>
                <a:ea typeface="Times New Roman" panose="02020603050405020304" pitchFamily="18" charset="0"/>
                <a:cs typeface="Times New Roman" panose="02020603050405020304" pitchFamily="18" charset="0"/>
              </a:rPr>
              <a:t>Low claim frequencies policy holder consist of more than 70% of the total Policy holder.</a:t>
            </a:r>
            <a:endParaRPr lang="en-US" sz="1500" kern="100" dirty="0">
              <a:solidFill>
                <a:schemeClr val="bg1"/>
              </a:solidFill>
              <a:ea typeface="Times New Roman" panose="02020603050405020304" pitchFamily="18" charset="0"/>
              <a:cs typeface="Times New Roman" panose="02020603050405020304" pitchFamily="18" charset="0"/>
            </a:endParaRPr>
          </a:p>
          <a:p>
            <a:pPr>
              <a:lnSpc>
                <a:spcPct val="107000"/>
              </a:lnSpc>
              <a:spcBef>
                <a:spcPts val="0"/>
              </a:spcBef>
              <a:spcAft>
                <a:spcPts val="800"/>
              </a:spcAft>
              <a:buSzPts val="1000"/>
              <a:tabLst>
                <a:tab pos="457200" algn="l"/>
              </a:tabLst>
            </a:pPr>
            <a:r>
              <a:rPr lang="en-US" sz="1500" kern="0" dirty="0">
                <a:solidFill>
                  <a:schemeClr val="bg1"/>
                </a:solidFill>
                <a:effectLst/>
                <a:ea typeface="Times New Roman" panose="02020603050405020304" pitchFamily="18" charset="0"/>
                <a:cs typeface="Times New Roman" panose="02020603050405020304" pitchFamily="18" charset="0"/>
              </a:rPr>
              <a:t>This analysis also makes us understand they live mostly in the Urban areas</a:t>
            </a:r>
            <a:endParaRPr lang="en-US" sz="1500" kern="100" dirty="0">
              <a:solidFill>
                <a:schemeClr val="bg1"/>
              </a:solidFill>
              <a:ea typeface="Times New Roman" panose="02020603050405020304" pitchFamily="18" charset="0"/>
              <a:cs typeface="Times New Roman" panose="02020603050405020304" pitchFamily="18" charset="0"/>
            </a:endParaRPr>
          </a:p>
          <a:p>
            <a:pPr>
              <a:lnSpc>
                <a:spcPct val="107000"/>
              </a:lnSpc>
              <a:spcBef>
                <a:spcPts val="0"/>
              </a:spcBef>
              <a:spcAft>
                <a:spcPts val="800"/>
              </a:spcAft>
              <a:buSzPts val="1000"/>
              <a:tabLst>
                <a:tab pos="457200" algn="l"/>
              </a:tabLst>
            </a:pPr>
            <a:r>
              <a:rPr lang="en-US" sz="1500" kern="0" dirty="0">
                <a:solidFill>
                  <a:schemeClr val="bg1"/>
                </a:solidFill>
                <a:effectLst/>
                <a:ea typeface="Times New Roman" panose="02020603050405020304" pitchFamily="18" charset="0"/>
              </a:rPr>
              <a:t>The policy holders with low claim frequency are also part of those who earn high.</a:t>
            </a:r>
          </a:p>
          <a:p>
            <a:pPr>
              <a:lnSpc>
                <a:spcPct val="107000"/>
              </a:lnSpc>
              <a:spcBef>
                <a:spcPts val="0"/>
              </a:spcBef>
              <a:spcAft>
                <a:spcPts val="800"/>
              </a:spcAft>
              <a:buSzPts val="1000"/>
              <a:tabLst>
                <a:tab pos="457200" algn="l"/>
              </a:tabLst>
            </a:pPr>
            <a:endParaRPr lang="en-US" sz="1500" kern="0" dirty="0">
              <a:solidFill>
                <a:schemeClr val="bg1"/>
              </a:solidFill>
            </a:endParaRPr>
          </a:p>
          <a:p>
            <a:pPr marL="0" indent="0">
              <a:lnSpc>
                <a:spcPct val="107000"/>
              </a:lnSpc>
              <a:spcBef>
                <a:spcPts val="0"/>
              </a:spcBef>
              <a:spcAft>
                <a:spcPts val="800"/>
              </a:spcAft>
              <a:buSzPts val="1000"/>
              <a:buNone/>
              <a:tabLst>
                <a:tab pos="457200" algn="l"/>
              </a:tabLst>
            </a:pPr>
            <a:r>
              <a:rPr lang="en-US" sz="1500" b="1" kern="0" dirty="0">
                <a:solidFill>
                  <a:schemeClr val="accent1"/>
                </a:solidFill>
              </a:rPr>
              <a:t>Customer Behavior (Kids Driving)</a:t>
            </a:r>
          </a:p>
          <a:p>
            <a:pPr>
              <a:lnSpc>
                <a:spcPct val="107000"/>
              </a:lnSpc>
              <a:spcBef>
                <a:spcPts val="0"/>
              </a:spcBef>
              <a:spcAft>
                <a:spcPts val="800"/>
              </a:spcAft>
              <a:buSzPts val="1000"/>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presence of children driving affects claim frequency, as younger or less experienced drivers may increase the likelihood of claims.</a:t>
            </a:r>
          </a:p>
          <a:p>
            <a:pPr>
              <a:lnSpc>
                <a:spcPct val="107000"/>
              </a:lnSpc>
              <a:spcBef>
                <a:spcPts val="0"/>
              </a:spcBef>
              <a:spcAft>
                <a:spcPts val="800"/>
              </a:spcAft>
              <a:buSzPts val="1000"/>
              <a:tabLst>
                <a:tab pos="457200" algn="l"/>
              </a:tabLst>
            </a:pPr>
            <a:endParaRPr lang="en-US" sz="1400" dirty="0">
              <a:solidFill>
                <a:schemeClr val="bg1"/>
              </a:solidFill>
            </a:endParaRPr>
          </a:p>
        </p:txBody>
      </p:sp>
      <p:sp>
        <p:nvSpPr>
          <p:cNvPr id="9" name="Content Placeholder 8">
            <a:extLst>
              <a:ext uri="{FF2B5EF4-FFF2-40B4-BE49-F238E27FC236}">
                <a16:creationId xmlns:a16="http://schemas.microsoft.com/office/drawing/2014/main" id="{B4C683D4-78FB-2D2B-C0C3-68AA7C89CC90}"/>
              </a:ext>
            </a:extLst>
          </p:cNvPr>
          <p:cNvSpPr>
            <a:spLocks noGrp="1"/>
          </p:cNvSpPr>
          <p:nvPr>
            <p:ph sz="half" idx="2"/>
          </p:nvPr>
        </p:nvSpPr>
        <p:spPr>
          <a:xfrm>
            <a:off x="6172200" y="836908"/>
            <a:ext cx="5181600" cy="5858333"/>
          </a:xfrm>
        </p:spPr>
        <p:txBody>
          <a:bodyPr/>
          <a:lstStyle/>
          <a:p>
            <a:pPr marL="0" marR="0" lvl="0" indent="0">
              <a:lnSpc>
                <a:spcPct val="107000"/>
              </a:lnSpc>
              <a:spcBef>
                <a:spcPts val="0"/>
              </a:spcBef>
              <a:spcAft>
                <a:spcPts val="800"/>
              </a:spcAft>
              <a:buSzPts val="1000"/>
              <a:buNone/>
              <a:tabLst>
                <a:tab pos="457200" algn="l"/>
              </a:tabLst>
            </a:pP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0"/>
              </a:spcBef>
              <a:spcAft>
                <a:spcPts val="800"/>
              </a:spcAft>
              <a:buSzPts val="1000"/>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Develop loyalty programs to retain high-value, low-claim customers, such as offering renewal discounts or additional benefits.</a:t>
            </a:r>
          </a:p>
          <a:p>
            <a:pPr>
              <a:lnSpc>
                <a:spcPct val="107000"/>
              </a:lnSpc>
              <a:spcBef>
                <a:spcPts val="0"/>
              </a:spcBef>
              <a:spcAft>
                <a:spcPts val="800"/>
              </a:spcAft>
              <a:buSzPts val="1000"/>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Tailor marketing campaigns to high-value segments, like high-income, low-risk customers, to attract similar profiles.</a:t>
            </a:r>
          </a:p>
          <a:p>
            <a:endParaRPr lang="en-US" dirty="0">
              <a:solidFill>
                <a:schemeClr val="bg1"/>
              </a:solidFill>
            </a:endParaRPr>
          </a:p>
          <a:p>
            <a:endParaRPr lang="en-US" dirty="0">
              <a:solidFill>
                <a:schemeClr val="bg1"/>
              </a:solidFill>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endPar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Consider implementing family plans that address the needs of households with young drivers, possibly with higher premiums or special coverage options.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5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Offer defensive driving programs or discounts to households with young drivers to encourage safer driving habits.</a:t>
            </a:r>
          </a:p>
          <a:p>
            <a:endParaRPr lang="en-US" dirty="0">
              <a:solidFill>
                <a:schemeClr val="bg1"/>
              </a:solidFill>
            </a:endParaRPr>
          </a:p>
        </p:txBody>
      </p:sp>
      <p:sp>
        <p:nvSpPr>
          <p:cNvPr id="10" name="Rectangle 9">
            <a:extLst>
              <a:ext uri="{FF2B5EF4-FFF2-40B4-BE49-F238E27FC236}">
                <a16:creationId xmlns:a16="http://schemas.microsoft.com/office/drawing/2014/main" id="{68F32A3C-4A98-5079-AE56-17B292662995}"/>
              </a:ext>
            </a:extLst>
          </p:cNvPr>
          <p:cNvSpPr/>
          <p:nvPr/>
        </p:nvSpPr>
        <p:spPr>
          <a:xfrm>
            <a:off x="6066294" y="1"/>
            <a:ext cx="1524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DA486D26-831A-89F5-3963-27CA6D82755E}"/>
              </a:ext>
            </a:extLst>
          </p:cNvPr>
          <p:cNvCxnSpPr/>
          <p:nvPr/>
        </p:nvCxnSpPr>
        <p:spPr>
          <a:xfrm>
            <a:off x="325464" y="763748"/>
            <a:ext cx="1134476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898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C2390-2A79-F36D-CB5D-63BEA8428968}"/>
              </a:ext>
            </a:extLst>
          </p:cNvPr>
          <p:cNvSpPr>
            <a:spLocks noGrp="1"/>
          </p:cNvSpPr>
          <p:nvPr>
            <p:ph type="title"/>
          </p:nvPr>
        </p:nvSpPr>
        <p:spPr>
          <a:xfrm>
            <a:off x="838200" y="38772"/>
            <a:ext cx="10515600" cy="642265"/>
          </a:xfrm>
        </p:spPr>
        <p:txBody>
          <a:bodyPr>
            <a:normAutofit/>
          </a:bodyPr>
          <a:lstStyle/>
          <a:p>
            <a:pPr algn="ctr"/>
            <a:r>
              <a:rPr lang="en-US" sz="3200" dirty="0">
                <a:solidFill>
                  <a:srgbClr val="C00000"/>
                </a:solidFill>
              </a:rPr>
              <a:t>Insights                              Recommendations</a:t>
            </a:r>
          </a:p>
        </p:txBody>
      </p:sp>
      <p:sp>
        <p:nvSpPr>
          <p:cNvPr id="3" name="Content Placeholder 2">
            <a:extLst>
              <a:ext uri="{FF2B5EF4-FFF2-40B4-BE49-F238E27FC236}">
                <a16:creationId xmlns:a16="http://schemas.microsoft.com/office/drawing/2014/main" id="{EEC0C832-CA21-F8B7-A99A-CBABADC361F7}"/>
              </a:ext>
            </a:extLst>
          </p:cNvPr>
          <p:cNvSpPr>
            <a:spLocks noGrp="1"/>
          </p:cNvSpPr>
          <p:nvPr>
            <p:ph sz="half" idx="1"/>
          </p:nvPr>
        </p:nvSpPr>
        <p:spPr>
          <a:xfrm>
            <a:off x="526942" y="790414"/>
            <a:ext cx="5492858" cy="5889355"/>
          </a:xfrm>
        </p:spPr>
        <p:txBody>
          <a:bodyPr>
            <a:normAutofit fontScale="85000" lnSpcReduction="10000"/>
          </a:bodyPr>
          <a:lstStyle/>
          <a:p>
            <a:pPr marL="0" marR="0" lvl="0" indent="0" algn="just">
              <a:lnSpc>
                <a:spcPct val="107000"/>
              </a:lnSpc>
              <a:spcBef>
                <a:spcPts val="0"/>
              </a:spcBef>
              <a:spcAft>
                <a:spcPts val="800"/>
              </a:spcAft>
              <a:buSzPts val="1000"/>
              <a:buNone/>
              <a:tabLst>
                <a:tab pos="457200" algn="l"/>
              </a:tabLst>
            </a:pPr>
            <a:r>
              <a:rPr lang="en-US" sz="1800" b="1" kern="100" dirty="0">
                <a:solidFill>
                  <a:schemeClr val="accent1"/>
                </a:solidFill>
                <a:latin typeface="Aptos" panose="020B0004020202020204" pitchFamily="34" charset="0"/>
                <a:ea typeface="Aptos" panose="020B0004020202020204" pitchFamily="34" charset="0"/>
                <a:cs typeface="Times New Roman" panose="02020603050405020304" pitchFamily="18" charset="0"/>
              </a:rPr>
              <a:t>Demographic Analysis</a:t>
            </a:r>
            <a:endParaRPr lang="en-US" sz="1800" b="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Single individuals represent the largest segment at 41.35% of the total customers, with 15,525 customers, which is significantly higher (402.43%) than the Separated group.</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Females have a slightly higher total customer count (18,806 vs. 18,736 for males). The divergence is most notable in private vehicle usage, where females outnumber males by 82 customers.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total number of customers follows this order: Single, Married, Divorced, Separated. This order may correlate with different usage patterns or insurance needs based on marital status.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Within the Elder age category, private car use comprises 51.59% of the total number of customers.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average customer count is marginally higher for females (9,403) than for males (9,368).</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customer count between females and males is nearly equal, with only a difference of 70 customers. However, small variances in categories such as private vs. business use suggest nuanced preferences.</a:t>
            </a:r>
          </a:p>
          <a:p>
            <a:endParaRPr lang="en-US" dirty="0">
              <a:solidFill>
                <a:schemeClr val="bg1"/>
              </a:solidFill>
            </a:endParaRPr>
          </a:p>
        </p:txBody>
      </p:sp>
      <p:sp>
        <p:nvSpPr>
          <p:cNvPr id="4" name="Content Placeholder 3">
            <a:extLst>
              <a:ext uri="{FF2B5EF4-FFF2-40B4-BE49-F238E27FC236}">
                <a16:creationId xmlns:a16="http://schemas.microsoft.com/office/drawing/2014/main" id="{6DDEF9C4-216D-76AB-E471-B2A2D669F27B}"/>
              </a:ext>
            </a:extLst>
          </p:cNvPr>
          <p:cNvSpPr>
            <a:spLocks noGrp="1"/>
          </p:cNvSpPr>
          <p:nvPr>
            <p:ph sz="half" idx="2"/>
          </p:nvPr>
        </p:nvSpPr>
        <p:spPr>
          <a:xfrm>
            <a:off x="6172199" y="790414"/>
            <a:ext cx="5492857" cy="5889355"/>
          </a:xfrm>
        </p:spPr>
        <p:txBody>
          <a:bodyPr>
            <a:normAutofit fontScale="85000" lnSpcReduction="10000"/>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Older customers are more likely to use their vehicles privately rather than for business, possibly indicating retirees or those with reduced professional driving needs. Creating age-friendly insurance packages with benefits such as roadside assistance or discounts for low mileage could appeal to this demographic.</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Married individuals are the second-largest group, potentially indicating a need for family or multi-driver plans. Divorced and Separated individuals represent smaller segments, but they may prefer individual-focused plans. Offering customized insurance products based on marital status could help increase relevance for each group.</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Females might be more inclined to purchase insurance for private use rather than business, suggesting they could be more frequent users of personal vehicles. Marketing targeted at female customers may benefit from emphasizing personal, family-oriented insurance benefits or bundled packages for private usage.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While males and females have a similar overall presence, targeted campaigns can still benefit from recognizing these minor usage differences. For example, campaigns promoting private insurance options could slightly prioritize female customers, while business-use promotions might be adjusted for a more gender-neutral appeal.</a:t>
            </a:r>
          </a:p>
          <a:p>
            <a:endParaRPr lang="en-US" dirty="0">
              <a:solidFill>
                <a:schemeClr val="bg1"/>
              </a:solidFill>
            </a:endParaRPr>
          </a:p>
        </p:txBody>
      </p:sp>
      <p:sp>
        <p:nvSpPr>
          <p:cNvPr id="5" name="Rectangle 4">
            <a:extLst>
              <a:ext uri="{FF2B5EF4-FFF2-40B4-BE49-F238E27FC236}">
                <a16:creationId xmlns:a16="http://schemas.microsoft.com/office/drawing/2014/main" id="{12F8BDF8-9DB3-1B19-88DF-19DA0F4E7AB7}"/>
              </a:ext>
            </a:extLst>
          </p:cNvPr>
          <p:cNvSpPr/>
          <p:nvPr/>
        </p:nvSpPr>
        <p:spPr>
          <a:xfrm>
            <a:off x="6066294" y="1"/>
            <a:ext cx="1524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B475442F-A63E-073D-1C5D-2FF2EDE1CAEF}"/>
              </a:ext>
            </a:extLst>
          </p:cNvPr>
          <p:cNvCxnSpPr/>
          <p:nvPr/>
        </p:nvCxnSpPr>
        <p:spPr>
          <a:xfrm>
            <a:off x="325464" y="639764"/>
            <a:ext cx="1134476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0633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96C6-8F1C-4463-054F-8B991F3880F4}"/>
              </a:ext>
            </a:extLst>
          </p:cNvPr>
          <p:cNvSpPr>
            <a:spLocks noGrp="1"/>
          </p:cNvSpPr>
          <p:nvPr>
            <p:ph type="title"/>
          </p:nvPr>
        </p:nvSpPr>
        <p:spPr>
          <a:xfrm>
            <a:off x="838200" y="131762"/>
            <a:ext cx="10515600" cy="549275"/>
          </a:xfrm>
        </p:spPr>
        <p:txBody>
          <a:bodyPr>
            <a:normAutofit fontScale="90000"/>
          </a:bodyPr>
          <a:lstStyle/>
          <a:p>
            <a:pPr algn="ctr"/>
            <a:r>
              <a:rPr lang="en-US" sz="3200" dirty="0">
                <a:solidFill>
                  <a:srgbClr val="C00000"/>
                </a:solidFill>
              </a:rPr>
              <a:t>Insights                                      Recommendations</a:t>
            </a:r>
          </a:p>
        </p:txBody>
      </p:sp>
      <p:sp>
        <p:nvSpPr>
          <p:cNvPr id="3" name="Content Placeholder 2">
            <a:extLst>
              <a:ext uri="{FF2B5EF4-FFF2-40B4-BE49-F238E27FC236}">
                <a16:creationId xmlns:a16="http://schemas.microsoft.com/office/drawing/2014/main" id="{92F59A4B-89FD-C176-D27D-B9FBEB8164E4}"/>
              </a:ext>
            </a:extLst>
          </p:cNvPr>
          <p:cNvSpPr>
            <a:spLocks noGrp="1"/>
          </p:cNvSpPr>
          <p:nvPr>
            <p:ph sz="half" idx="1"/>
          </p:nvPr>
        </p:nvSpPr>
        <p:spPr>
          <a:xfrm>
            <a:off x="521776" y="790414"/>
            <a:ext cx="5498024" cy="5935824"/>
          </a:xfrm>
        </p:spPr>
        <p:txBody>
          <a:bodyPr>
            <a:normAutofit fontScale="77500" lnSpcReduction="20000"/>
          </a:bodyPr>
          <a:lstStyle/>
          <a:p>
            <a:pPr marL="0" marR="0" indent="0" algn="just">
              <a:lnSpc>
                <a:spcPct val="107000"/>
              </a:lnSpc>
              <a:spcBef>
                <a:spcPts val="0"/>
              </a:spcBef>
              <a:spcAft>
                <a:spcPts val="800"/>
              </a:spcAft>
              <a:buNone/>
            </a:pPr>
            <a:r>
              <a:rPr lang="en-US" sz="1900" b="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High Claim Frequency Zones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9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Suburban Zone: With an average claim frequency (</a:t>
            </a:r>
            <a:r>
              <a:rPr lang="en-US" sz="19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Avg_Claim_Freq</a:t>
            </a:r>
            <a:r>
              <a:rPr lang="en-US" sz="19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of 52%, the Suburban coverage zone has the highest claim frequency. This indicates that policyholders in the Suburban zone are more likely to file claims compared to other zones, suggesting a potentially higher risk for insurers. This could be due to factors such as higher traffic density or different driving patterns commonly seen in suburban areas.</a:t>
            </a:r>
          </a:p>
          <a:p>
            <a:pPr marL="0" marR="0" indent="0" algn="just">
              <a:lnSpc>
                <a:spcPct val="107000"/>
              </a:lnSpc>
              <a:spcBef>
                <a:spcPts val="0"/>
              </a:spcBef>
              <a:spcAft>
                <a:spcPts val="800"/>
              </a:spcAft>
              <a:buNone/>
            </a:pPr>
            <a:r>
              <a:rPr lang="en-US" sz="1900" b="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Lower Claim Frequency Zones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9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Highly Rural Zone: With an </a:t>
            </a:r>
            <a:r>
              <a:rPr lang="en-US" sz="19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Avg_Claim_Freq</a:t>
            </a:r>
            <a:r>
              <a:rPr lang="en-US" sz="19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of 50%, the Highly Rural zone has the lowest average claim frequency, which is 3.93% lower than Suburban. Policyholders in the Highly Rural zone may have lower exposure to accidents or incidents due to less congested roads and slower traffic, indicating a potentially lower-risk profile.</a:t>
            </a:r>
          </a:p>
          <a:p>
            <a:pPr marL="0" marR="0" indent="0" algn="just">
              <a:lnSpc>
                <a:spcPct val="107000"/>
              </a:lnSpc>
              <a:spcBef>
                <a:spcPts val="0"/>
              </a:spcBef>
              <a:spcAft>
                <a:spcPts val="800"/>
              </a:spcAft>
              <a:buNone/>
            </a:pPr>
            <a:r>
              <a:rPr lang="en-US" sz="19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The other three zones fall within a narrow range of claim frequencies, between 50% and 52%. While they don't have the highest or lowest averages, they still represent a moderate risk level. These regions likely have a mix of suburban and rural characteristics, resulting in an average claim frequency near the middle of the range.</a:t>
            </a:r>
          </a:p>
          <a:p>
            <a:endParaRPr lang="en-US" dirty="0">
              <a:solidFill>
                <a:schemeClr val="bg1"/>
              </a:solidFill>
            </a:endParaRPr>
          </a:p>
        </p:txBody>
      </p:sp>
      <p:sp>
        <p:nvSpPr>
          <p:cNvPr id="4" name="Content Placeholder 3">
            <a:extLst>
              <a:ext uri="{FF2B5EF4-FFF2-40B4-BE49-F238E27FC236}">
                <a16:creationId xmlns:a16="http://schemas.microsoft.com/office/drawing/2014/main" id="{548C3A79-C7A1-2F39-32FC-BBF4A42A78DC}"/>
              </a:ext>
            </a:extLst>
          </p:cNvPr>
          <p:cNvSpPr>
            <a:spLocks noGrp="1"/>
          </p:cNvSpPr>
          <p:nvPr>
            <p:ph sz="half" idx="2"/>
          </p:nvPr>
        </p:nvSpPr>
        <p:spPr>
          <a:xfrm>
            <a:off x="6172200" y="790414"/>
            <a:ext cx="5498024" cy="5935824"/>
          </a:xfrm>
        </p:spPr>
        <p:txBody>
          <a:bodyPr>
            <a:normAutofit fontScale="77500" lnSpcReduction="20000"/>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Zone-Based Pricing Model: Implement a tiered pricing structure based on coverage zones to better reflect risk differences. The Highly Rural zone could benefit from lower premiums, while Suburban zones might require slightly higher premiums due to the elevated claim frequency.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Targeted Risk Mitigation Strategies: In high-frequency zones, offer discounts on policy renewals for customers who complete driving courses or maintain low claims. Educate policyholders in Suburban areas on safer driving habits to help manage claim frequency.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Recommendation: Consider implementing risk-adjusted pricing or premium adjustments for suburban policyholders. Additionally, offering driver safety programs or promoting defensive driving courses in these areas may help reduce claim frequency over time.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Recommendation: Consider offering lower premiums or discounts to policyholders in highly rural areas. Marketing targeted toward these lower-risk zones could attract more customers by promoting the cost savings associated with lower claim frequency.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Continue monitoring these mid-range zones, as any shifts in population density or infrastructure changes could alter their risk levels. Adjust premiums accordingly if future data shows upward or downward trends in claims.</a:t>
            </a:r>
          </a:p>
          <a:p>
            <a:pPr marL="0" marR="0" indent="0">
              <a:lnSpc>
                <a:spcPct val="107000"/>
              </a:lnSpc>
              <a:spcBef>
                <a:spcPts val="0"/>
              </a:spcBef>
              <a:spcAft>
                <a:spcPts val="800"/>
              </a:spcAft>
              <a:buNone/>
            </a:pPr>
            <a:r>
              <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This approach allows the company to align its pricing strategy with the actual risk levels across different coverage zones, potentially reducing overall claim costs while attracting lower-risk customers in regions with lower claim frequencies.</a:t>
            </a:r>
          </a:p>
          <a:p>
            <a:endParaRPr lang="en-US" dirty="0">
              <a:solidFill>
                <a:schemeClr val="bg1"/>
              </a:solidFill>
            </a:endParaRPr>
          </a:p>
        </p:txBody>
      </p:sp>
      <p:sp>
        <p:nvSpPr>
          <p:cNvPr id="5" name="Rectangle 4">
            <a:extLst>
              <a:ext uri="{FF2B5EF4-FFF2-40B4-BE49-F238E27FC236}">
                <a16:creationId xmlns:a16="http://schemas.microsoft.com/office/drawing/2014/main" id="{7D3C445B-C12C-FC70-6282-9063306C93E2}"/>
              </a:ext>
            </a:extLst>
          </p:cNvPr>
          <p:cNvSpPr/>
          <p:nvPr/>
        </p:nvSpPr>
        <p:spPr>
          <a:xfrm>
            <a:off x="6066294" y="1"/>
            <a:ext cx="1524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73AEB342-7F5C-1D4F-437C-73A29E00A102}"/>
              </a:ext>
            </a:extLst>
          </p:cNvPr>
          <p:cNvCxnSpPr/>
          <p:nvPr/>
        </p:nvCxnSpPr>
        <p:spPr>
          <a:xfrm>
            <a:off x="325464" y="686258"/>
            <a:ext cx="1134476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1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C83C-6658-216F-9F94-08189116044E}"/>
              </a:ext>
            </a:extLst>
          </p:cNvPr>
          <p:cNvSpPr>
            <a:spLocks noGrp="1"/>
          </p:cNvSpPr>
          <p:nvPr>
            <p:ph type="title"/>
          </p:nvPr>
        </p:nvSpPr>
        <p:spPr>
          <a:xfrm>
            <a:off x="816592" y="1041653"/>
            <a:ext cx="9404723" cy="1400530"/>
          </a:xfrm>
        </p:spPr>
        <p:txBody>
          <a:bodyPr/>
          <a:lstStyle/>
          <a:p>
            <a:pPr algn="ctr"/>
            <a:r>
              <a:rPr lang="en-US" b="1" dirty="0">
                <a:solidFill>
                  <a:schemeClr val="accent1"/>
                </a:solidFill>
              </a:rPr>
              <a:t>       Conclusion</a:t>
            </a:r>
          </a:p>
        </p:txBody>
      </p:sp>
      <p:sp>
        <p:nvSpPr>
          <p:cNvPr id="3" name="Content Placeholder 2">
            <a:extLst>
              <a:ext uri="{FF2B5EF4-FFF2-40B4-BE49-F238E27FC236}">
                <a16:creationId xmlns:a16="http://schemas.microsoft.com/office/drawing/2014/main" id="{6312861F-C98A-9963-3C3C-59A0C02900E5}"/>
              </a:ext>
            </a:extLst>
          </p:cNvPr>
          <p:cNvSpPr>
            <a:spLocks noGrp="1"/>
          </p:cNvSpPr>
          <p:nvPr>
            <p:ph idx="1"/>
          </p:nvPr>
        </p:nvSpPr>
        <p:spPr>
          <a:xfrm>
            <a:off x="2479729" y="2052918"/>
            <a:ext cx="8338088" cy="4195481"/>
          </a:xfrm>
        </p:spPr>
        <p:txBody>
          <a:bodyPr/>
          <a:lstStyle/>
          <a:p>
            <a:pPr algn="just"/>
            <a:endParaRPr lang="en-US"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algn="just"/>
            <a:r>
              <a:rPr lang="en-US"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Implementing these insights could help the insurance company better tailor its offerings, optimize risk management, and improve customer retention and acquisition efforts. The recommendations can form the basis for strategic initiatives that enhance profitability while providing policyholders with value-based services.</a:t>
            </a:r>
          </a:p>
          <a:p>
            <a:endParaRPr lang="en-US" dirty="0"/>
          </a:p>
        </p:txBody>
      </p:sp>
      <p:cxnSp>
        <p:nvCxnSpPr>
          <p:cNvPr id="4" name="Straight Connector 3">
            <a:extLst>
              <a:ext uri="{FF2B5EF4-FFF2-40B4-BE49-F238E27FC236}">
                <a16:creationId xmlns:a16="http://schemas.microsoft.com/office/drawing/2014/main" id="{72FC2EDD-3FDF-34C4-166B-9A0AC7A2B93C}"/>
              </a:ext>
            </a:extLst>
          </p:cNvPr>
          <p:cNvCxnSpPr>
            <a:cxnSpLocks/>
          </p:cNvCxnSpPr>
          <p:nvPr/>
        </p:nvCxnSpPr>
        <p:spPr>
          <a:xfrm>
            <a:off x="2479729" y="1941625"/>
            <a:ext cx="8601559"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4960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1297</TotalTime>
  <Words>1884</Words>
  <Application>Microsoft Office PowerPoint</Application>
  <PresentationFormat>Widescreen</PresentationFormat>
  <Paragraphs>96</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Amasis MT Pro Medium</vt:lpstr>
      <vt:lpstr>Aptos</vt:lpstr>
      <vt:lpstr>Century Gothic</vt:lpstr>
      <vt:lpstr>Comic Sans MS</vt:lpstr>
      <vt:lpstr>Modern No. 20</vt:lpstr>
      <vt:lpstr>Symbol</vt:lpstr>
      <vt:lpstr>Times New Roman</vt:lpstr>
      <vt:lpstr>Wingdings 3</vt:lpstr>
      <vt:lpstr>Ion</vt:lpstr>
      <vt:lpstr>Insurance Data Analysis Project</vt:lpstr>
      <vt:lpstr>Insurance Data Analysis Project</vt:lpstr>
      <vt:lpstr>Claim Frequency &amp; Amount Analysis</vt:lpstr>
      <vt:lpstr> Risk Assessment</vt:lpstr>
      <vt:lpstr>Demographic Analysis</vt:lpstr>
      <vt:lpstr>Geographical Analysis</vt:lpstr>
      <vt:lpstr>Customer  Behaviors </vt:lpstr>
      <vt:lpstr>Insights                               Recommendations</vt:lpstr>
      <vt:lpstr>Insights                               Recommendations</vt:lpstr>
      <vt:lpstr>Insights                              Recommendations</vt:lpstr>
      <vt:lpstr>Insights                                      Recommendations</vt:lpstr>
      <vt:lpstr>       Conclusion</vt:lpstr>
    </vt:vector>
  </TitlesOfParts>
  <Company>TEMAOS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OMOBOLADE OMO OLUSEYE</cp:lastModifiedBy>
  <cp:revision>8</cp:revision>
  <dcterms:created xsi:type="dcterms:W3CDTF">2024-10-28T21:55:05Z</dcterms:created>
  <dcterms:modified xsi:type="dcterms:W3CDTF">2025-11-17T09:21:22Z</dcterms:modified>
</cp:coreProperties>
</file>